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theme/themeOverride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8" r:id="rId10"/>
    <p:sldId id="269" r:id="rId11"/>
    <p:sldId id="263" r:id="rId12"/>
    <p:sldId id="264" r:id="rId13"/>
    <p:sldId id="265" r:id="rId14"/>
    <p:sldId id="266" r:id="rId15"/>
    <p:sldId id="270" r:id="rId16"/>
    <p:sldId id="271" r:id="rId1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990" y="1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1862" b="0" i="0" u="none" strike="noStrike" baseline="0" dirty="0"/>
              <a:t>Travel Metrics Across Key Bus Routes</a:t>
            </a:r>
            <a:endParaRPr lang="en-IN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15"/>
      <c:rotY val="20"/>
      <c:depthPercent val="100"/>
      <c:rAngAx val="1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bar3DChart>
        <c:barDir val="col"/>
        <c:grouping val="percent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Price (₹)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Chennai → Hyderabad</c:v>
                </c:pt>
                <c:pt idx="1">
                  <c:v>Chennai → Bangalore</c:v>
                </c:pt>
                <c:pt idx="2">
                  <c:v>Hyderabad → Bangalore</c:v>
                </c:pt>
                <c:pt idx="3">
                  <c:v>Hyderabad → Chennai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450</c:v>
                </c:pt>
                <c:pt idx="1">
                  <c:v>380</c:v>
                </c:pt>
                <c:pt idx="2">
                  <c:v>500</c:v>
                </c:pt>
                <c:pt idx="3">
                  <c:v>420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B46-4DB9-B5C4-CEE1BA66F92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Rating (out of 5)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Chennai → Hyderabad</c:v>
                </c:pt>
                <c:pt idx="1">
                  <c:v>Chennai → Bangalore</c:v>
                </c:pt>
                <c:pt idx="2">
                  <c:v>Hyderabad → Bangalore</c:v>
                </c:pt>
                <c:pt idx="3">
                  <c:v>Hyderabad → Chennai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4.3</c:v>
                </c:pt>
                <c:pt idx="1">
                  <c:v>3.8</c:v>
                </c:pt>
                <c:pt idx="2">
                  <c:v>4.7</c:v>
                </c:pt>
                <c:pt idx="3">
                  <c:v>4.0999999999999996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B46-4DB9-B5C4-CEE1BA66F92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Seats Available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  <a:sp3d/>
          </c:spPr>
          <c:invertIfNegative val="0"/>
          <c:cat>
            <c:strRef>
              <c:f>Sheet1!$A$2:$A$5</c:f>
              <c:strCache>
                <c:ptCount val="4"/>
                <c:pt idx="0">
                  <c:v>Chennai → Hyderabad</c:v>
                </c:pt>
                <c:pt idx="1">
                  <c:v>Chennai → Bangalore</c:v>
                </c:pt>
                <c:pt idx="2">
                  <c:v>Hyderabad → Bangalore</c:v>
                </c:pt>
                <c:pt idx="3">
                  <c:v>Hyderabad → Chennai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30</c:v>
                </c:pt>
                <c:pt idx="1">
                  <c:v>25</c:v>
                </c:pt>
                <c:pt idx="2">
                  <c:v>28</c:v>
                </c:pt>
                <c:pt idx="3">
                  <c:v>32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B46-4DB9-B5C4-CEE1BA66F9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shape val="box"/>
        <c:axId val="2098044559"/>
        <c:axId val="2098029199"/>
        <c:axId val="0"/>
      </c:bar3DChart>
      <c:catAx>
        <c:axId val="2098044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029199"/>
        <c:crosses val="autoZero"/>
        <c:auto val="1"/>
        <c:lblAlgn val="ctr"/>
        <c:lblOffset val="100"/>
        <c:noMultiLvlLbl val="0"/>
      </c:catAx>
      <c:valAx>
        <c:axId val="209802919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%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98044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8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41291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01126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shade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shade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shade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shade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1144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632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28964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26931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7461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54651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4165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98642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799707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3E29D6BB-C344-41BC-8B49-D92919A57AC6}" type="datetimeFigureOut">
              <a:rPr lang="en-IN" smtClean="0"/>
              <a:t>08-01-2026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shade val="82000"/>
                  </a:schemeClr>
                </a:solidFill>
              </a:defRPr>
            </a:lvl1pPr>
          </a:lstStyle>
          <a:p>
            <a:fld id="{59C475E7-BCDB-40BE-B166-6CC3FC0C04A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374707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Relationship Id="rId4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0DAFBB-B491-3790-227E-DC0A437842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5058" y="217715"/>
            <a:ext cx="11800113" cy="1861456"/>
          </a:xfrm>
        </p:spPr>
        <p:txBody>
          <a:bodyPr>
            <a:normAutofit/>
          </a:bodyPr>
          <a:lstStyle/>
          <a:p>
            <a:r>
              <a:rPr lang="en-US" b="1" dirty="0"/>
              <a:t>Web Scrapping of Bus Routes for Data Analysis</a:t>
            </a:r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E3F80-B98F-9784-188B-F744D9FF708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86600" y="4468586"/>
            <a:ext cx="6281057" cy="1240971"/>
          </a:xfrm>
        </p:spPr>
        <p:txBody>
          <a:bodyPr/>
          <a:lstStyle/>
          <a:p>
            <a:r>
              <a:rPr lang="en-IN" dirty="0"/>
              <a:t>by,</a:t>
            </a:r>
          </a:p>
          <a:p>
            <a:r>
              <a:rPr lang="en-IN" dirty="0"/>
              <a:t>Jayasri DHANAPAL</a:t>
            </a:r>
          </a:p>
        </p:txBody>
      </p:sp>
      <p:pic>
        <p:nvPicPr>
          <p:cNvPr id="1032" name="Picture 8" descr="Chartered Bus | Online Bus Bookings Made Easy| Indore Bhopal">
            <a:extLst>
              <a:ext uri="{FF2B5EF4-FFF2-40B4-BE49-F238E27FC236}">
                <a16:creationId xmlns:a16="http://schemas.microsoft.com/office/drawing/2014/main" id="{6FF28D26-6B7E-CB07-F201-69C736D694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0138" y="1"/>
            <a:ext cx="1224213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751632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61" name="Picture 13" descr="Motion Background Vector Art, Icons, and Graphics for Free Download">
            <a:extLst>
              <a:ext uri="{FF2B5EF4-FFF2-40B4-BE49-F238E27FC236}">
                <a16:creationId xmlns:a16="http://schemas.microsoft.com/office/drawing/2014/main" id="{6EBA9D00-236A-5F80-61F1-D8735FF27C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01FC17A-AA09-5F6E-4850-C9253833E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951611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Objective</a:t>
            </a:r>
          </a:p>
        </p:txBody>
      </p:sp>
      <p:sp>
        <p:nvSpPr>
          <p:cNvPr id="14" name="Rectangle 11">
            <a:extLst>
              <a:ext uri="{FF2B5EF4-FFF2-40B4-BE49-F238E27FC236}">
                <a16:creationId xmlns:a16="http://schemas.microsoft.com/office/drawing/2014/main" id="{3225C006-32F2-E690-84CE-3D4CF68C7D8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947928" y="1316736"/>
            <a:ext cx="10515600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presents an applied study on how web-based transportation data can be analyzed to support informed decision-making.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focuses on bus travel information such as pricing, passenger ratings, and seat availability to understand service quality and travel patterns.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work demonstrates how real-world online data can be transformed into structured insights for analytical and practical use.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39A74723-EE17-C909-FCF3-5725DCFA928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7928" y="3840480"/>
            <a:ext cx="10098024" cy="2862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95305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7" name="Picture 5" descr="Motion Background Vector Art, Icons, and Graphics for Free Download">
            <a:extLst>
              <a:ext uri="{FF2B5EF4-FFF2-40B4-BE49-F238E27FC236}">
                <a16:creationId xmlns:a16="http://schemas.microsoft.com/office/drawing/2014/main" id="{4FEC11C2-B52B-480A-6FE4-4648B69ACDB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66675"/>
            <a:ext cx="12192000" cy="67913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FAD87F4-A32D-04FF-86D1-BEEC235FD6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Motivation Behind the Project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4101F95-A245-E461-8098-B37B7A2E40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1" y="2570135"/>
            <a:ext cx="9993198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 travel information such as price, ratings, and seat availability is often presented across different pages and sections of a website.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makes it difficult for travelers to compare options and make confident decisions.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This project is motivated by the need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combine scattered travel details into a single analytical view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unified view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clear comparison, pattern identification, and data-driven decision-making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1582067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9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16259D81-16DF-4B85-BC5F-EB5ED6CBBC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4EE6D79-6669-3D40-8F01-6609377557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Justification for RedBus Platform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1795C4A0-1537-5516-6CA3-3E2F8A62D7D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36"/>
            <a:ext cx="5257800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required a source that represents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real-world bus travel choices and behavior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endParaRPr lang="en-US" altLang="en-US" sz="1800" dirty="0"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RedBus presents bus information in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consistent format across routes and operators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making comparison meaningful.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It provides essential travel details such as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price, ratings, timings, and seat availability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one platform.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Choosing this website allows the analysis to reflect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practical travel scenarios rather than hypothetical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10" name="Chart 9">
            <a:extLst>
              <a:ext uri="{FF2B5EF4-FFF2-40B4-BE49-F238E27FC236}">
                <a16:creationId xmlns:a16="http://schemas.microsoft.com/office/drawing/2014/main" id="{42677E77-A8C6-A56D-E1FD-8E291F4AFCA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6642568"/>
              </p:ext>
            </p:extLst>
          </p:nvPr>
        </p:nvGraphicFramePr>
        <p:xfrm>
          <a:off x="5815584" y="1690688"/>
          <a:ext cx="5870448" cy="444764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183865865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5" name="Picture 5" descr="Motion Background Vector Art, Icons, and Graphics for Free Download">
            <a:extLst>
              <a:ext uri="{FF2B5EF4-FFF2-40B4-BE49-F238E27FC236}">
                <a16:creationId xmlns:a16="http://schemas.microsoft.com/office/drawing/2014/main" id="{6065FD79-79BC-32C0-055E-98B0D9C71D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7913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8DF89C5-6DF5-B927-4F4B-26CD861139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Significance of Bus Travel Data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C9ABB412-D77B-B96E-C6F4-3424494331A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2" y="2570135"/>
            <a:ext cx="1043016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Bus travel data provides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into passenger preferences and operator performance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reflects affordability and market positioning.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shows passenger satisfaction and perceived service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Seats Available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indicates demand patterns and peak travel periods.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Analyzing these dimensions together gives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complete view of travel value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helping travelers and operators make informed decisions.</a:t>
            </a:r>
          </a:p>
        </p:txBody>
      </p:sp>
    </p:spTree>
    <p:extLst>
      <p:ext uri="{BB962C8B-B14F-4D97-AF65-F5344CB8AC3E}">
        <p14:creationId xmlns:p14="http://schemas.microsoft.com/office/powerpoint/2010/main" val="218592207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7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8C04384B-DC90-8157-BAED-39DA186710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7145503-8B22-81C1-1704-F9FD9E65AC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Structured and Organized Data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5838F76-B487-5196-3B3F-EC621764752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31635"/>
            <a:ext cx="10515600" cy="31393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Online bus data is primarily designed for human viewing, not analysis, which makes direct comparison difficult.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Structuring the data ensures that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all travel details (price, ratings, seats, duration, operators) are consistently aligned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each bus route.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Organized data allows us 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trends, compare operators fairly, and extract actionable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scattered information into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reliable, decision-ready dataset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supports meaningful analysis.</a:t>
            </a:r>
          </a:p>
        </p:txBody>
      </p:sp>
    </p:spTree>
    <p:extLst>
      <p:ext uri="{BB962C8B-B14F-4D97-AF65-F5344CB8AC3E}">
        <p14:creationId xmlns:p14="http://schemas.microsoft.com/office/powerpoint/2010/main" val="61801365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1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DE911DDE-7DFC-5D0E-5612-1296976B4A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817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0271402-132C-C18B-0481-7207A7C3D5C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48039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Making Data Meaningful for Analysis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D171DC8E-8843-4894-FFD3-5EDA2D8CA68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413164"/>
            <a:ext cx="10515600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Once the data was structured, it still needed to be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interpretable and decision-ready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Transformations included: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Converting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duration into minutes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easier comparison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Categorizing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prices into budget, standard, premium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Identifying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vs non-peak travel hours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These transformations turn raw numbers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that can guide travelers and operators.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 understanding of travel patterns, cost-quality trade-offs, and demand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FFCAB3-8048-9097-1CB6-4517704DC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009167"/>
              </p:ext>
            </p:extLst>
          </p:nvPr>
        </p:nvGraphicFramePr>
        <p:xfrm>
          <a:off x="960582" y="4517736"/>
          <a:ext cx="10224660" cy="18542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852055">
                  <a:extLst>
                    <a:ext uri="{9D8B030D-6E8A-4147-A177-3AD203B41FA5}">
                      <a16:colId xmlns:a16="http://schemas.microsoft.com/office/drawing/2014/main" val="2321776434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363171771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951931210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2303195801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4233997373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1506775076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3678714095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3529536418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932758225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2390114250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3202693138"/>
                    </a:ext>
                  </a:extLst>
                </a:gridCol>
                <a:gridCol w="852055">
                  <a:extLst>
                    <a:ext uri="{9D8B030D-6E8A-4147-A177-3AD203B41FA5}">
                      <a16:colId xmlns:a16="http://schemas.microsoft.com/office/drawing/2014/main" val="29063690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Bus_ID</a:t>
                      </a:r>
                      <a:endParaRPr lang="en-IN" sz="700" b="1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Departure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Arrival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Duration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Duration_Minutes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Seats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Single_Seats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Price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Onwards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Operator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Bus_Type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1" u="none" strike="noStrike">
                          <a:solidFill>
                            <a:schemeClr val="bg1"/>
                          </a:solidFill>
                          <a:effectLst/>
                        </a:rPr>
                        <a:t>Rating</a:t>
                      </a:r>
                      <a:endParaRPr lang="en-IN" sz="700" b="1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3516340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26409654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23:15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06:10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6h 55m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415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42</a:t>
                      </a:r>
                      <a:endParaRPr lang="en-IN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10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1250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Onwards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Jayavin Travels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A/C Seater / Sleeper (2+1)</a:t>
                      </a:r>
                      <a:endParaRPr lang="en-US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4.4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8136441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44319378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21:55</a:t>
                      </a:r>
                      <a:endParaRPr lang="en-IN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04:30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6h 35m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395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36</a:t>
                      </a:r>
                      <a:endParaRPr lang="en-IN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12</a:t>
                      </a:r>
                      <a:endParaRPr lang="en-IN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585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Onwards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HYBUS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Bharat Benz A/C Sleeper (2+1)</a:t>
                      </a:r>
                      <a:endParaRPr lang="en-US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4.5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40361021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36258160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21:35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05:00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7h 25m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445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24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8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1600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Onwards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PADMAVATHI TRAVELS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A/C Sleeper (2+1)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4.3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93401779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37971794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22:45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05:45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7h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420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25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6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>
                          <a:solidFill>
                            <a:schemeClr val="bg1"/>
                          </a:solidFill>
                          <a:effectLst/>
                        </a:rPr>
                        <a:t>1400</a:t>
                      </a:r>
                      <a:endParaRPr lang="en-IN" sz="700" b="0" i="0" u="none" strike="noStrike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Onwards</a:t>
                      </a:r>
                      <a:endParaRPr lang="en-IN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Krish Travels</a:t>
                      </a:r>
                      <a:endParaRPr lang="en-IN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US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Bharat Benz A/C Seater /Sleeper (2+1)</a:t>
                      </a:r>
                      <a:endParaRPr lang="en-US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en-IN" sz="700" b="0" u="none" strike="noStrike" dirty="0">
                          <a:solidFill>
                            <a:schemeClr val="bg1"/>
                          </a:solidFill>
                          <a:effectLst/>
                        </a:rPr>
                        <a:t>4.2</a:t>
                      </a:r>
                      <a:endParaRPr lang="en-IN" sz="700" b="0" i="0" u="none" strike="noStrike" dirty="0">
                        <a:solidFill>
                          <a:schemeClr val="bg1"/>
                        </a:solidFill>
                        <a:effectLst/>
                        <a:latin typeface="Segoe UI" panose="020B0502040204020203" pitchFamily="34" charset="0"/>
                      </a:endParaRPr>
                    </a:p>
                  </a:txBody>
                  <a:tcPr marL="6350" marR="6350" marT="6350" marB="0" anchor="ctr"/>
                </a:tc>
                <a:extLst>
                  <a:ext uri="{0D108BD9-81ED-4DB2-BD59-A6C34878D82A}">
                    <a16:rowId xmlns:a16="http://schemas.microsoft.com/office/drawing/2014/main" val="182818605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4216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67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ACA1FC06-DC00-E97B-660F-50C5456CBC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4D586A20-6D10-A863-F837-2BE23524AC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6"/>
            <a:ext cx="10515600" cy="872548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Project Architecture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3E8645-7752-FC03-4E45-7F14E541040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22745" y="1489616"/>
            <a:ext cx="7058892" cy="36933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Shows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end-to-end workflow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project: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US" altLang="en-US" sz="1400" b="1" dirty="0">
                <a:latin typeface="Arial" panose="020B0604020202020204" pitchFamily="34" charset="0"/>
              </a:rPr>
              <a:t>1.Data Collection: Web scraping bus travel data from RedBus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2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Cleaning &amp; Structuring: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Removing inconsistencies and organizing into clear fields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3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Data Transformation: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Converting raw data into actionable metrics (price categories, duration, peak hours)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4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Logistic Regression, Decision Tree, Random Forest, SVM, KNN for predictive insights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 Visualization: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Interactive exploration of insights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AutoNum type="arabicPeriod" startAt="5"/>
            </a:pP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Illustrates how raw online data is transformed into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actionable, decision-ready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viewers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the logical flow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the project without looking at code.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0CDAFFA-0CCA-5034-DC31-A3179C3E54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237" y="365125"/>
            <a:ext cx="3131128" cy="6127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495517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789595-CAB5-691C-25E4-BAA010590F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Interactive Dashboard for Data Exploration</a:t>
            </a:r>
            <a:endParaRPr lang="en-IN" dirty="0">
              <a:solidFill>
                <a:schemeClr val="accent2"/>
              </a:solidFill>
            </a:endParaRP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D6797CB-FD31-B16F-BE1E-F70BB986892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4400" y="1962838"/>
            <a:ext cx="10096500" cy="4647511"/>
          </a:xfrm>
        </p:spPr>
      </p:pic>
    </p:spTree>
    <p:extLst>
      <p:ext uri="{BB962C8B-B14F-4D97-AF65-F5344CB8AC3E}">
        <p14:creationId xmlns:p14="http://schemas.microsoft.com/office/powerpoint/2010/main" val="36268239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1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4DD26F01-07B6-15CA-D7FB-9A04AE9D53F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EF64AAE-D941-C788-00D5-1BF0D7059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939"/>
            <a:ext cx="10515600" cy="1413934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Continued..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9815ABA9-52B5-D98B-DA88-02491E6D505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23968"/>
            <a:ext cx="10591800" cy="295465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dashboard allows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exploration of bus travel data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Key Features: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Filter by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Price, Rating, Seats, Departure/Arrival time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Compare multiple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routes and operators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Reset button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to explore different scenarios easily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Converts structured and transformed data into a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user-friendly interface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insights.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travelers and operators to make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quick, data-driven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without analyzing raw data.</a:t>
            </a:r>
          </a:p>
        </p:txBody>
      </p:sp>
    </p:spTree>
    <p:extLst>
      <p:ext uri="{BB962C8B-B14F-4D97-AF65-F5344CB8AC3E}">
        <p14:creationId xmlns:p14="http://schemas.microsoft.com/office/powerpoint/2010/main" val="392424977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5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331EEE10-C96D-56A7-6588-4D82525C30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"/>
            <a:ext cx="12192000" cy="67532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58DB646-1C9F-DA8D-8DFD-0345033E7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81161"/>
          </a:xfrm>
        </p:spPr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Route-Wise Price Comparison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CC5AE3F-4EA2-602A-F621-C92C41D8404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80591"/>
            <a:ext cx="6000750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Ticket price is one of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most influential factors for travel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Analyzing pricing across routes and operators helps to: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Identify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affordable options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travelers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Detect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premium or unusually low-priced services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 pricing strategies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 the market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Supports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economically informed decisions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highlights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value-for-money travel options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C32E12A-4270-1CB5-64BA-60ED918871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91375" y="2028826"/>
            <a:ext cx="4162425" cy="26776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046136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9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691A5E8A-C955-B414-5DB1-8FA485C292C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26670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C47B9A51-7A59-4E3B-31EB-404232B01F8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589089"/>
            <a:ext cx="10515600" cy="24622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Ratings reflect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real passenger experiences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overall service quality.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Comparing ratings with price shows: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Whether higher cost correlates with better service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operators provide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high-quality service at reasonable prices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Helps travelers make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value-driven choices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not just follow price or popularity.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Operators can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areas for service improvement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C0B2C7F-A4ED-DDF3-54C8-0F37875A3C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Evaluating Service Quality Through Ratings</a:t>
            </a:r>
            <a:endParaRPr lang="en-IN" dirty="0">
              <a:solidFill>
                <a:schemeClr val="accent2"/>
              </a:solidFill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27B76A19-F74B-AC66-F5C4-B98B8FAF9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446" y="4330703"/>
            <a:ext cx="9396379" cy="1936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1378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4" name="Picture 4" descr="Motion Background Vector Art, Icons, and Graphics for Free Download">
            <a:extLst>
              <a:ext uri="{FF2B5EF4-FFF2-40B4-BE49-F238E27FC236}">
                <a16:creationId xmlns:a16="http://schemas.microsoft.com/office/drawing/2014/main" id="{6FC1F26A-2364-CE77-32DF-C1477D354B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61319-97F0-AAF8-4FA9-387375670E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20939"/>
            <a:ext cx="10515600" cy="1413934"/>
          </a:xfrm>
        </p:spPr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Analyzing Demand Based on Departure Time and Price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B597B9A6-7DAE-C8A1-F7BF-BC8956A8FD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416245"/>
            <a:ext cx="5762625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 demand often depends on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departure time and ticket pricing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high-demand time slots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Benefits: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Travelers can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choose optimal departure times</a:t>
            </a: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cost or convenience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Operators can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adjust pricing dynamically based on demand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Highlights </a:t>
            </a:r>
            <a:r>
              <a:rPr kumimoji="0" lang="en-US" altLang="en-US" sz="1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 hours and pricing trends</a:t>
            </a:r>
            <a:endParaRPr kumimoji="0" lang="en-US" alt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686D9A0-0280-CFF0-44F1-2521A8C96B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35743" y="2416244"/>
            <a:ext cx="4870889" cy="26129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184373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6" name="Picture 4" descr="Motion Background Vector Art, Icons, and Graphics for Free Download">
            <a:extLst>
              <a:ext uri="{FF2B5EF4-FFF2-40B4-BE49-F238E27FC236}">
                <a16:creationId xmlns:a16="http://schemas.microsoft.com/office/drawing/2014/main" id="{05B9E5CC-1935-7F7C-3286-424803FBF38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EA127DD7-73DB-04DD-C9B6-C1CC2DF9C07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46968"/>
            <a:ext cx="6105525" cy="350865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Objective: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Predict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Category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of bus routes using processed features.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Purpose: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operators and travelers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cost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and optimize planning.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Models Implemented:</a:t>
            </a: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Logistic Regression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Decision Tree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Random Forest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Support Vector Machine (SVM)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kumimoji="0" lang="en-US" alt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Neural Network (MLP Classifier)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A1A9A76-08D4-ABF6-1F1B-F033A56B4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Machine Learning Models &amp; Predictive Insights</a:t>
            </a:r>
            <a:endParaRPr lang="en-IN" dirty="0">
              <a:solidFill>
                <a:schemeClr val="accent2"/>
              </a:solidFill>
            </a:endParaRP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75C9CF7-A7DA-FE13-71DC-1EAB435BD5E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4759271"/>
              </p:ext>
            </p:extLst>
          </p:nvPr>
        </p:nvGraphicFramePr>
        <p:xfrm>
          <a:off x="7324725" y="2316480"/>
          <a:ext cx="4486275" cy="3302000"/>
        </p:xfrm>
        <a:graphic>
          <a:graphicData uri="http://schemas.openxmlformats.org/drawingml/2006/table">
            <a:tbl>
              <a:tblPr firstRow="1" bandRow="1">
                <a:tableStyleId>{93296810-A885-4BE3-A3E7-6D5BEEA58F35}</a:tableStyleId>
              </a:tblPr>
              <a:tblGrid>
                <a:gridCol w="1495425">
                  <a:extLst>
                    <a:ext uri="{9D8B030D-6E8A-4147-A177-3AD203B41FA5}">
                      <a16:colId xmlns:a16="http://schemas.microsoft.com/office/drawing/2014/main" val="278448062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675758082"/>
                    </a:ext>
                  </a:extLst>
                </a:gridCol>
                <a:gridCol w="1495425">
                  <a:extLst>
                    <a:ext uri="{9D8B030D-6E8A-4147-A177-3AD203B41FA5}">
                      <a16:colId xmlns:a16="http://schemas.microsoft.com/office/drawing/2014/main" val="285426069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Model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solidFill>
                            <a:schemeClr val="bg1"/>
                          </a:solidFill>
                        </a:rPr>
                        <a:t>Accuracy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solidFill>
                            <a:schemeClr val="bg1"/>
                          </a:solidFill>
                        </a:rPr>
                        <a:t>F1 Score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3094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Logistic Regression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0.77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42928955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Decision Tree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1.00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9507236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Random Forest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0.94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0.94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4094994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SVM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0.72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0.71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633279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Neural Network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0.86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IN" dirty="0"/>
                        <a:t>0.86</a:t>
                      </a:r>
                      <a:endParaRPr lang="en-IN" dirty="0">
                        <a:solidFill>
                          <a:schemeClr val="bg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88644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569011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9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B53F2536-2805-6D50-BADB-D7F1998E96B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7627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9DEFD0C2-D509-58A2-E002-2983CA006E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chemeClr val="accent2"/>
                </a:solidFill>
              </a:rPr>
              <a:t>Key Insights from Bus Travel Data</a:t>
            </a:r>
            <a:endParaRPr lang="en-IN" dirty="0">
              <a:solidFill>
                <a:schemeClr val="accent2"/>
              </a:solidFill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D5361A1-8141-E882-AD35-9EE61BDBBFF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204582"/>
            <a:ext cx="10331739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Price, Ratings, Seats: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Identify demand patterns and service quality across routes.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Departure Time Analysis: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Reveals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peak-hour trends and pricing patterns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Decision Tree &amp; Random Forest accurately predict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Price Categories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Dashboard: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interactive exploration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 travelers and operators.</a:t>
            </a:r>
          </a:p>
        </p:txBody>
      </p:sp>
    </p:spTree>
    <p:extLst>
      <p:ext uri="{BB962C8B-B14F-4D97-AF65-F5344CB8AC3E}">
        <p14:creationId xmlns:p14="http://schemas.microsoft.com/office/powerpoint/2010/main" val="16342104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63" name="Picture 3" descr="Motion Background Vector Art, Icons, and Graphics for Free Download">
            <a:extLst>
              <a:ext uri="{FF2B5EF4-FFF2-40B4-BE49-F238E27FC236}">
                <a16:creationId xmlns:a16="http://schemas.microsoft.com/office/drawing/2014/main" id="{C0966ABB-0AE0-8926-852A-72C8A56F31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2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79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CC0361E-21B7-5EE0-EA03-BB049509A0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>
                <a:solidFill>
                  <a:schemeClr val="accent2"/>
                </a:solidFill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427AD194-6BD2-7630-FB8D-58F079E099C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918059"/>
            <a:ext cx="10401300" cy="258532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project demonstrates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how raw travel data can be converted into practical insights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Insights from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pricing, ratings, seats, and departure times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help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travelers and operators make informed choices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Machine Learning models and dashboards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enable accurate predictions and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dynamic exploration of trends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Overall, the project highlights the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value of data science in real-world applications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37910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96B24"/>
      </a:accent1>
      <a:accent2>
        <a:srgbClr val="4EA72E"/>
      </a:accent2>
      <a:accent3>
        <a:srgbClr val="156082"/>
      </a:accent3>
      <a:accent4>
        <a:srgbClr val="0F9ED5"/>
      </a:accent4>
      <a:accent5>
        <a:srgbClr val="A02B93"/>
      </a:accent5>
      <a:accent6>
        <a:srgbClr val="E97132"/>
      </a:accent6>
      <a:hlink>
        <a:srgbClr val="538D9D"/>
      </a:hlink>
      <a:folHlink>
        <a:srgbClr val="A5738E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C0A3E416-13B0-4CFE-8B85-8989D8AEFB51}"/>
    </a:ext>
  </a:extLst>
</a:theme>
</file>

<file path=ppt/theme/themeOverride1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96B24"/>
    </a:accent1>
    <a:accent2>
      <a:srgbClr val="4EA72E"/>
    </a:accent2>
    <a:accent3>
      <a:srgbClr val="156082"/>
    </a:accent3>
    <a:accent4>
      <a:srgbClr val="0F9ED5"/>
    </a:accent4>
    <a:accent5>
      <a:srgbClr val="A02B93"/>
    </a:accent5>
    <a:accent6>
      <a:srgbClr val="E97132"/>
    </a:accent6>
    <a:hlink>
      <a:srgbClr val="538D9D"/>
    </a:hlink>
    <a:folHlink>
      <a:srgbClr val="A5738E"/>
    </a:folHlink>
  </a:clrScheme>
</a:themeOverride>
</file>

<file path=ppt/theme/themeOverride2.xml><?xml version="1.0" encoding="utf-8"?>
<a:themeOverride xmlns:a="http://schemas.openxmlformats.org/drawingml/2006/main">
  <a:clrScheme name="Office Theme">
    <a:dk1>
      <a:sysClr val="windowText" lastClr="000000"/>
    </a:dk1>
    <a:lt1>
      <a:sysClr val="window" lastClr="FFFFFF"/>
    </a:lt1>
    <a:dk2>
      <a:srgbClr val="0E2841"/>
    </a:dk2>
    <a:lt2>
      <a:srgbClr val="E8E8E8"/>
    </a:lt2>
    <a:accent1>
      <a:srgbClr val="196B24"/>
    </a:accent1>
    <a:accent2>
      <a:srgbClr val="4EA72E"/>
    </a:accent2>
    <a:accent3>
      <a:srgbClr val="156082"/>
    </a:accent3>
    <a:accent4>
      <a:srgbClr val="0F9ED5"/>
    </a:accent4>
    <a:accent5>
      <a:srgbClr val="A02B93"/>
    </a:accent5>
    <a:accent6>
      <a:srgbClr val="E97132"/>
    </a:accent6>
    <a:hlink>
      <a:srgbClr val="538D9D"/>
    </a:hlink>
    <a:folHlink>
      <a:srgbClr val="A5738E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161</TotalTime>
  <Words>1104</Words>
  <Application>Microsoft Office PowerPoint</Application>
  <PresentationFormat>Widescreen</PresentationFormat>
  <Paragraphs>211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Aptos</vt:lpstr>
      <vt:lpstr>Aptos Display</vt:lpstr>
      <vt:lpstr>Arial</vt:lpstr>
      <vt:lpstr>Segoe UI</vt:lpstr>
      <vt:lpstr>Office Theme</vt:lpstr>
      <vt:lpstr>Web Scrapping of Bus Routes for Data Analysis</vt:lpstr>
      <vt:lpstr>Objective</vt:lpstr>
      <vt:lpstr>Motivation Behind the Project</vt:lpstr>
      <vt:lpstr>Justification for RedBus Platform</vt:lpstr>
      <vt:lpstr>Significance of Bus Travel Data</vt:lpstr>
      <vt:lpstr>Structured and Organized Data</vt:lpstr>
      <vt:lpstr>Making Data Meaningful for Analysis</vt:lpstr>
      <vt:lpstr>Project Architecture</vt:lpstr>
      <vt:lpstr>Interactive Dashboard for Data Exploration</vt:lpstr>
      <vt:lpstr>Continued..</vt:lpstr>
      <vt:lpstr>Route-Wise Price Comparison</vt:lpstr>
      <vt:lpstr>Evaluating Service Quality Through Ratings</vt:lpstr>
      <vt:lpstr>Analyzing Demand Based on Departure Time and Price</vt:lpstr>
      <vt:lpstr>Machine Learning Models &amp; Predictive Insights</vt:lpstr>
      <vt:lpstr>Key Insights from Bus Travel Data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Jayasri Karthik</dc:creator>
  <cp:lastModifiedBy>Jayasri Karthik</cp:lastModifiedBy>
  <cp:revision>4</cp:revision>
  <dcterms:created xsi:type="dcterms:W3CDTF">2026-01-08T21:33:20Z</dcterms:created>
  <dcterms:modified xsi:type="dcterms:W3CDTF">2026-01-09T00:14:29Z</dcterms:modified>
</cp:coreProperties>
</file>